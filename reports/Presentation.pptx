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23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7315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7315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1887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0" y="11887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1188720"/>
            <a:ext cx="54864" cy="548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BLUESTOCK FINTECH  ·  DATA ANALYTICS INTERNSHIP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Fund</a:t>
            </a:r>
            <a:endParaRPr lang="en-US" sz="5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Platform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analytics, risk metrics, and investor insights across 40 mutual fund schemes and 10 AMCs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2011680" cy="0"/>
          </a:xfrm>
          <a:prstGeom prst="line">
            <a:avLst/>
          </a:prstGeom>
          <a:noFill/>
          <a:ln w="3175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Madanala Abhishek Varma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·  Bluestock Fintech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and analysts lack a unified, data-driven view of mutual fund performance, risk, and investor behavior across fund houses.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selection is often based on raw returns alone — ignoring risk-adjusted performance, expense drag, and concentration risk hidden inside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737360"/>
            <a:ext cx="539496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19672" y="252887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84848" y="24414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analytics platform: ETL → database → EDA → performance &amp; risk metrics → interactive dashboard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19672" y="329641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3220181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industry-standard metrics — Sharpe, Sortino, Alpha/Beta, CAGR, Max Drawdown, VaR/CVaR — for every scheme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19672" y="405536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397922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investor behavior patterns — cohorts, SIP continuity, demographics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19672" y="47640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4711585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4-page Power BI dashboard for interactive exploration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+ live API supplement, spanning Jan 2022 – Dec 2025/26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2212848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Master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· 10 AMCs · risk category, expense ratio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9504" y="2057400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2057400"/>
            <a:ext cx="2212848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History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35808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 daily NAV records, 2022–2026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30368" y="2057400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2057400"/>
            <a:ext cx="2212848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5376672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AUM by Fund House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76672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AUM, 2022–2025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71232" y="2057400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71232" y="2057400"/>
            <a:ext cx="2212848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7717536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Inflows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17536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industry-wide inflow trend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912096" y="2057400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12096" y="2057400"/>
            <a:ext cx="2212848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Inflows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0" y="2715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 by fund category, monthly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602736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602736"/>
            <a:ext cx="2212848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Folio Count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4944" y="42611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folio growth over time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89504" y="3602736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9504" y="3602736"/>
            <a:ext cx="2212848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3035808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Scheme Performance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035808" y="42611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return &amp; risk baseline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30368" y="3602736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602736"/>
            <a:ext cx="2212848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Transactions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76672" y="42611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/ Lumpsum / Redemption records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71232" y="3602736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71232" y="3602736"/>
            <a:ext cx="2212848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717536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Holdings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17536" y="42611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weight per fund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12096" y="3602736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12096" y="3602736"/>
            <a:ext cx="2212848" cy="5486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Indices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058400" y="426110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50, Nifty 100, BSE SmallCap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NAV supplement pulled from the mfapi.in API for 6 key benchmark schemes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8884" y="21488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8884" y="2148840"/>
            <a:ext cx="1965960" cy="8229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78612" y="24048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CSVs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Live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8612" y="308152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mfapi.in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34844" y="2697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90876" y="21488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0876" y="2148840"/>
            <a:ext cx="1965960" cy="82296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3000604" y="24048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&amp;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0604" y="308152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dedupe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· type checks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56836" y="2697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2868" y="21488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12868" y="2148840"/>
            <a:ext cx="1965960" cy="82296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5222596" y="24048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2596" y="308152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fact/dim tables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78828" y="2697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34860" y="21488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34860" y="2148840"/>
            <a:ext cx="196596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444588" y="24048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44588" y="308152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Performance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00820" y="2697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56852" y="21488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56852" y="2148840"/>
            <a:ext cx="1965960" cy="82296"/>
          </a:xfrm>
          <a:prstGeom prst="rect">
            <a:avLst/>
          </a:prstGeom>
          <a:solidFill>
            <a:srgbClr val="C143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66580" y="24048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66580" y="308152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720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581912" y="457200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/>
          <p:nvPr/>
        </p:nvSpPr>
        <p:spPr>
          <a:xfrm>
            <a:off x="1581912" y="45720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615184" y="4572000"/>
            <a:ext cx="772668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4" name="Text 32"/>
          <p:cNvSpPr/>
          <p:nvPr/>
        </p:nvSpPr>
        <p:spPr>
          <a:xfrm>
            <a:off x="2615184" y="4572000"/>
            <a:ext cx="7726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52444" y="4572000"/>
            <a:ext cx="772668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6" name="Text 34"/>
          <p:cNvSpPr/>
          <p:nvPr/>
        </p:nvSpPr>
        <p:spPr>
          <a:xfrm>
            <a:off x="3552444" y="4572000"/>
            <a:ext cx="7726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89704" y="4572000"/>
            <a:ext cx="1252728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8" name="Text 36"/>
          <p:cNvSpPr/>
          <p:nvPr/>
        </p:nvSpPr>
        <p:spPr>
          <a:xfrm>
            <a:off x="4489704" y="4572000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07024" y="457200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5907024" y="45720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0296" y="4572000"/>
            <a:ext cx="1060704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2" name="Text 40"/>
          <p:cNvSpPr/>
          <p:nvPr/>
        </p:nvSpPr>
        <p:spPr>
          <a:xfrm>
            <a:off x="6940296" y="457200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65592" y="457200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4" name="Text 42"/>
          <p:cNvSpPr/>
          <p:nvPr/>
        </p:nvSpPr>
        <p:spPr>
          <a:xfrm>
            <a:off x="8165592" y="4572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Seaborn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SIP Culture Is Accelerating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5" name="Image 0" descr="assets/07_folio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1828800"/>
            <a:ext cx="5824728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691640"/>
            <a:ext cx="3959352" cy="2103120"/>
          </a:xfrm>
          <a:prstGeom prst="roundRect">
            <a:avLst>
              <a:gd name="adj" fmla="val 3478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26.12 Cr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folios by Dec 2025 — nearly double the 13.26 Cr recorded in Jan 2022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931920"/>
            <a:ext cx="3959352" cy="219456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3931920"/>
            <a:ext cx="54864" cy="2194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4096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₹31,002 Cr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09560" y="4617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monthly SIP inflow, recorded Dec 2025 — up from ₹11,517 Cr in Jan 2022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Concentration Hides Inside “Diversified” Funds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5" name="Image 0" descr="assets/09_sector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" y="1828800"/>
            <a:ext cx="48539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691640"/>
            <a:ext cx="4873752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965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HHI &gt; 2,500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4088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Axis Bluechip, Mirae Tax Saver, and HDFC Mid-Cap Opportunities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40880" y="3246120"/>
            <a:ext cx="411480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342900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Herfindahl-Hirschman Index (Σ sector weight²) measures how concentrated a fund's sector exposure really is.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above 2,500 signals heavy reliance on one sector — a risk that isn't visible from the fund's name or category alone.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  · 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Risk-Adjusted Returns, Not Just Raw Returns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5" name="Image 0" descr="assets/11_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0" y="1828800"/>
            <a:ext cx="48539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83080"/>
            <a:ext cx="3959352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1783080"/>
            <a:ext cx="54864" cy="10332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5"/>
          <p:cNvSpPr/>
          <p:nvPr/>
        </p:nvSpPr>
        <p:spPr>
          <a:xfrm>
            <a:off x="788212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 &amp; Sortino Ratio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82128" y="22219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for all 40 funds using Rf = 6.5% (RBI repo rate proxy)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0" y="2916936"/>
            <a:ext cx="3959352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2916936"/>
            <a:ext cx="54864" cy="10332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28" y="3008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&amp; Beta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82128" y="3355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vs Nifty 100 — isolates skill from market movement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4050792"/>
            <a:ext cx="3959352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4050792"/>
            <a:ext cx="54864" cy="10332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3"/>
          <p:cNvSpPr/>
          <p:nvPr/>
        </p:nvSpPr>
        <p:spPr>
          <a:xfrm>
            <a:off x="7882128" y="4142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CAGR (1/3/5yr)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82128" y="4489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using 252 trading days, not calendar days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80960" y="5184648"/>
            <a:ext cx="3959352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0" y="5184648"/>
            <a:ext cx="54864" cy="10332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28" y="5276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Drawdown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82128" y="5623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decline, with exact date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Composite Scorecard Beats Return-Only Ranking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846320" cy="4343400"/>
          </a:xfrm>
          <a:prstGeom prst="roundRect">
            <a:avLst>
              <a:gd name="adj" fmla="val 168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SCORECARD  ·  0–100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Return Rank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Rank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3044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753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Rank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5753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056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Rank (inverse)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41056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636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Rank (inverse)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4636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212080"/>
            <a:ext cx="429768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949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a single 0–100 score per fund, ranking risk-adjusted quality — not just who returned the most last year.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1783080"/>
            <a:ext cx="6016752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FUNDS BY COMPOSITE SCORE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331720"/>
          <a:ext cx="5577840" cy="340156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Flexicap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 ·  PAGES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Overview &amp; Fund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5" name="Image 0" descr="assets/Page1_Industry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00486"/>
            <a:ext cx="5212080" cy="2925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53912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8" name="Image 1" descr="assets/Page2_Fund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357628"/>
            <a:ext cx="5212080" cy="30114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1072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 ·  PAGES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Analytics &amp; SIP / Market Trends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5" name="Image 0" descr="assets/Page3_Investor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82684"/>
            <a:ext cx="5212080" cy="2961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53912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2000"/>
              </a:srgbClr>
            </a:outerShdw>
          </a:effectLst>
        </p:spPr>
      </p:sp>
      <p:pic>
        <p:nvPicPr>
          <p:cNvPr id="8" name="Image 1" descr="assets/Page4_SIP_Market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405224"/>
            <a:ext cx="5212080" cy="29162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1072" y="5806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Concentration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Bluechip, Mirae Tax Saver, and HDFC Mid-Cap all exceed HHI 2,500 — highly concentrated despite diversified-sounding names.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Continuity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992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investors with 6+ SIPs show gaps over 35 days between contributions — a major retention flag.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47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95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 shows the worst 95% VaR at -2.39% — the highest single-day downside exposure in the fund 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439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Are Largely Uncorrelated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914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 correlation among the 6 benchmark Large Cap funds stays within ±0.06 — no strong co-movement detected in this dataset.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 Validated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687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Sharpe-based recommendations align with top raw-CAGR performers — confirming risk-adjusted ranking isn't just penalizing volatility.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BLUESTOCK MF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68680" y="3520440"/>
            <a:ext cx="2011680" cy="0"/>
          </a:xfrm>
          <a:prstGeom prst="line">
            <a:avLst/>
          </a:prstGeom>
          <a:noFill/>
          <a:ln w="3175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Madanala Abhishek Varma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468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· Bluestock Fintech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779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github.com/Abhishek-369V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B18561D-B7E4-610F-73DC-3868014F4EFC}"/>
              </a:ext>
            </a:extLst>
          </p:cNvPr>
          <p:cNvSpPr/>
          <p:nvPr/>
        </p:nvSpPr>
        <p:spPr>
          <a:xfrm>
            <a:off x="822960" y="5994949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linkedin.com/in/madanala-abhishek-varma/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876</Words>
  <Application>Microsoft Office PowerPoint</Application>
  <PresentationFormat>Widescreen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Madanala Abhishek Varma</dc:creator>
  <cp:lastModifiedBy>Madanala Abhishek Varma</cp:lastModifiedBy>
  <cp:revision>2</cp:revision>
  <dcterms:created xsi:type="dcterms:W3CDTF">2026-08-14T05:27:04Z</dcterms:created>
  <dcterms:modified xsi:type="dcterms:W3CDTF">2026-08-14T10:53:25Z</dcterms:modified>
</cp:coreProperties>
</file>